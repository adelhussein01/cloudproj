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92ae5299146c6" /><Relationship Type="http://schemas.openxmlformats.org/officeDocument/2006/relationships/extended-properties" Target="/docProps/app.xml" Id="Ra93f404284e64e85" /><Relationship Type="http://schemas.openxmlformats.org/officeDocument/2006/relationships/officeDocument" Target="/ppt/presentation.xml" Id="Rf8ab9fffd6cb4d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cc8572b76046f5"/>
  </p:sldMasterIdLst>
  <p:notesMasterIdLst>
    <p:notesMasterId xmlns:r="http://schemas.openxmlformats.org/officeDocument/2006/relationships" r:id="R5931d6fa450d4a75"/>
  </p:notesMasterIdLst>
  <p:sldIdLst>
    <p:sldId xmlns:r="http://schemas.openxmlformats.org/officeDocument/2006/relationships" id="256" r:id="R172b1117186b4e63"/>
    <p:sldId xmlns:r="http://schemas.openxmlformats.org/officeDocument/2006/relationships" id="257" r:id="R38f6cb2b80324367"/>
    <p:sldId xmlns:r="http://schemas.openxmlformats.org/officeDocument/2006/relationships" id="258" r:id="Ra92032eaac894132"/>
    <p:sldId xmlns:r="http://schemas.openxmlformats.org/officeDocument/2006/relationships" id="259" r:id="R364c63bcfd8d4e73"/>
    <p:sldId xmlns:r="http://schemas.openxmlformats.org/officeDocument/2006/relationships" id="260" r:id="R43dd029fdf534f36"/>
    <p:sldId xmlns:r="http://schemas.openxmlformats.org/officeDocument/2006/relationships" id="261" r:id="Rd10c3de4256a43ca"/>
    <p:sldId xmlns:r="http://schemas.openxmlformats.org/officeDocument/2006/relationships" id="262" r:id="R1b2c9202350040bc"/>
    <p:sldId xmlns:r="http://schemas.openxmlformats.org/officeDocument/2006/relationships" id="263" r:id="Rf6edf85b7c634ae9"/>
    <p:sldId xmlns:r="http://schemas.openxmlformats.org/officeDocument/2006/relationships" id="264" r:id="R89b36f09782047d3"/>
    <p:sldId xmlns:r="http://schemas.openxmlformats.org/officeDocument/2006/relationships" id="265" r:id="Rff85e31b82e94e73"/>
    <p:sldId xmlns:r="http://schemas.openxmlformats.org/officeDocument/2006/relationships" id="266" r:id="Re575db765dce4fab"/>
    <p:sldId xmlns:r="http://schemas.openxmlformats.org/officeDocument/2006/relationships" id="267" r:id="R66dc1d9e9ae34e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c8572b76046f5" /><Relationship Type="http://schemas.openxmlformats.org/officeDocument/2006/relationships/theme" Target="/ppt/theme/theme1.xml" Id="Ra9c8c086ec9e4ab1" /><Relationship Type="http://schemas.openxmlformats.org/officeDocument/2006/relationships/notesMaster" Target="/ppt/notesMasters/notesMaster1.xml" Id="R5931d6fa450d4a75" /><Relationship Type="http://schemas.openxmlformats.org/officeDocument/2006/relationships/presProps" Target="/ppt/presProps.xml" Id="R9a34fb0cf5a54f10" /><Relationship Type="http://schemas.openxmlformats.org/officeDocument/2006/relationships/viewProps" Target="/ppt/viewProps.xml" Id="R5a44617556c941b2" /><Relationship Type="http://schemas.openxmlformats.org/officeDocument/2006/relationships/tableStyles" Target="/ppt/tableStyles.xml" Id="Rb66b5afc36874b54" /><Relationship Type="http://schemas.openxmlformats.org/officeDocument/2006/relationships/slide" Target="/ppt/slides/slide1.xml" Id="R172b1117186b4e63" /><Relationship Type="http://schemas.openxmlformats.org/officeDocument/2006/relationships/slide" Target="/ppt/slides/slide2.xml" Id="R38f6cb2b80324367" /><Relationship Type="http://schemas.openxmlformats.org/officeDocument/2006/relationships/slide" Target="/ppt/slides/slide3.xml" Id="Ra92032eaac894132" /><Relationship Type="http://schemas.openxmlformats.org/officeDocument/2006/relationships/slide" Target="/ppt/slides/slide4.xml" Id="R364c63bcfd8d4e73" /><Relationship Type="http://schemas.openxmlformats.org/officeDocument/2006/relationships/slide" Target="/ppt/slides/slide5.xml" Id="R43dd029fdf534f36" /><Relationship Type="http://schemas.openxmlformats.org/officeDocument/2006/relationships/slide" Target="/ppt/slides/slide6.xml" Id="Rd10c3de4256a43ca" /><Relationship Type="http://schemas.openxmlformats.org/officeDocument/2006/relationships/slide" Target="/ppt/slides/slide7.xml" Id="R1b2c9202350040bc" /><Relationship Type="http://schemas.openxmlformats.org/officeDocument/2006/relationships/slide" Target="/ppt/slides/slide8.xml" Id="Rf6edf85b7c634ae9" /><Relationship Type="http://schemas.openxmlformats.org/officeDocument/2006/relationships/slide" Target="/ppt/slides/slide9.xml" Id="R89b36f09782047d3" /><Relationship Type="http://schemas.openxmlformats.org/officeDocument/2006/relationships/slide" Target="/ppt/slides/slide10.xml" Id="Rff85e31b82e94e73" /><Relationship Type="http://schemas.openxmlformats.org/officeDocument/2006/relationships/slide" Target="/ppt/slides/slide11.xml" Id="Re575db765dce4fab" /><Relationship Type="http://schemas.openxmlformats.org/officeDocument/2006/relationships/slide" Target="/ppt/slides/slide12.xml" Id="R66dc1d9e9ae3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43f4b6184f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c86dbb665243ea" /><Relationship Type="http://schemas.openxmlformats.org/officeDocument/2006/relationships/notesMaster" Target="/ppt/notesMasters/notesMaster1.xml" Id="Rfa35481f840a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8a32e909d5426c" /><Relationship Type="http://schemas.openxmlformats.org/officeDocument/2006/relationships/notesMaster" Target="/ppt/notesMasters/notesMaster1.xml" Id="R17e8ef066529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43f2fa01a498f" /><Relationship Type="http://schemas.openxmlformats.org/officeDocument/2006/relationships/notesMaster" Target="/ppt/notesMasters/notesMaster1.xml" Id="R339a4bf7032f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e857189864ae4" /><Relationship Type="http://schemas.openxmlformats.org/officeDocument/2006/relationships/notesMaster" Target="/ppt/notesMasters/notesMaster1.xml" Id="Rc0d697f25053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67870aa8a4f11" /><Relationship Type="http://schemas.openxmlformats.org/officeDocument/2006/relationships/notesMaster" Target="/ppt/notesMasters/notesMaster1.xml" Id="R9b706d1fc3fd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b39fe28a2425a" /><Relationship Type="http://schemas.openxmlformats.org/officeDocument/2006/relationships/notesMaster" Target="/ppt/notesMasters/notesMaster1.xml" Id="Rc36f6ff52ae8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d68f28a48349f2" /><Relationship Type="http://schemas.openxmlformats.org/officeDocument/2006/relationships/notesMaster" Target="/ppt/notesMasters/notesMaster1.xml" Id="R20b96e935bec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bab55a23f74a4b" /><Relationship Type="http://schemas.openxmlformats.org/officeDocument/2006/relationships/notesMaster" Target="/ppt/notesMasters/notesMaster1.xml" Id="R8ce09a4668b444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600babfe114f58" /><Relationship Type="http://schemas.openxmlformats.org/officeDocument/2006/relationships/notesMaster" Target="/ppt/notesMasters/notesMaster1.xml" Id="R3f060b6c1704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bf531ceaff47e3" /><Relationship Type="http://schemas.openxmlformats.org/officeDocument/2006/relationships/notesMaster" Target="/ppt/notesMasters/notesMaster1.xml" Id="R0131e655f83a4d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a5e15b5fc343cf" /><Relationship Type="http://schemas.openxmlformats.org/officeDocument/2006/relationships/notesMaster" Target="/ppt/notesMasters/notesMaster1.xml" Id="R62833e18231441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988ac49d024c36" /><Relationship Type="http://schemas.openxmlformats.org/officeDocument/2006/relationships/notesMaster" Target="/ppt/notesMasters/notesMaster1.xml" Id="R5f3ba8b6abe5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9e3fe81a54a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97fe44c1a0453b" /><Relationship Type="http://schemas.openxmlformats.org/officeDocument/2006/relationships/slideLayout" Target="/ppt/slideLayouts/slideLayout2.xml" Id="Rf4c266e3c21948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266e3c21948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2e2e8e5e84625" /><Relationship Type="http://schemas.openxmlformats.org/officeDocument/2006/relationships/notesSlide" Target="/ppt/notesSlides/notesSlide1.xml" Id="R403cb423ad1e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8593660e534d6c" /><Relationship Type="http://schemas.openxmlformats.org/officeDocument/2006/relationships/notesSlide" Target="/ppt/notesSlides/notesSlide2.xml" Id="R2efe6ba5ce4e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48e9a3cbd477c" /><Relationship Type="http://schemas.openxmlformats.org/officeDocument/2006/relationships/notesSlide" Target="/ppt/notesSlides/notesSlide3.xml" Id="Rc773f414f1244d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3e44f5c3f42db" /><Relationship Type="http://schemas.openxmlformats.org/officeDocument/2006/relationships/notesSlide" Target="/ppt/notesSlides/notesSlide4.xml" Id="R8e7d33e15d9c47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85fec72b44d9d" /><Relationship Type="http://schemas.openxmlformats.org/officeDocument/2006/relationships/notesSlide" Target="/ppt/notesSlides/notesSlide5.xml" Id="R63bdc81aebcd47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ed70d6daf74072" /><Relationship Type="http://schemas.openxmlformats.org/officeDocument/2006/relationships/notesSlide" Target="/ppt/notesSlides/notesSlide6.xml" Id="Rd31a86f332f149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dbd29d0d34bd6" /><Relationship Type="http://schemas.openxmlformats.org/officeDocument/2006/relationships/notesSlide" Target="/ppt/notesSlides/notesSlide7.xml" Id="Rf0daec60a514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bcf3a51c94b4c" /><Relationship Type="http://schemas.openxmlformats.org/officeDocument/2006/relationships/notesSlide" Target="/ppt/notesSlides/notesSlide8.xml" Id="R28d97a7a20de4f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67cf938cdd4fd4" /><Relationship Type="http://schemas.openxmlformats.org/officeDocument/2006/relationships/notesSlide" Target="/ppt/notesSlides/notesSlide9.xml" Id="R6c9e02b10675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aaedfcfce4e1c" /><Relationship Type="http://schemas.openxmlformats.org/officeDocument/2006/relationships/notesSlide" Target="/ppt/notesSlides/notesSlide10.xml" Id="R184fafac410f4f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70bbd5c82c44d2" /><Relationship Type="http://schemas.openxmlformats.org/officeDocument/2006/relationships/notesSlide" Target="/ppt/notesSlides/notesSlide11.xml" Id="Rafb1833b610041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b6dea194f4d26" /><Relationship Type="http://schemas.openxmlformats.org/officeDocument/2006/relationships/notesSlide" Target="/ppt/notesSlides/notesSlide12.xml" Id="R0027376902f14b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5DE29-5DD9-4BC7-AF94-498BF5DD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9C0B5-4ED0-44D7-9755-7367BF1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7FF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3D42-B6BE-43A5-9711-77C1378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84121-861B-4EA4-94C3-FBC0F7A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CLOUD-NATIVE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456D9-4596-48D4-B7B6-5ED714F2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GitOps makes deployment state reviewable, repeatable, and recoverable.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E56BC-46E9-4B5B-B3BE-E2F79DB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676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7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7FF"/>
                </a:solidFill>
                <a:latin typeface="Aptos"/>
                <a:ea typeface="Aptos"/>
                <a:cs typeface="Aptos"/>
              </a:rPr>
              <a:t>A real-time Next.js + NestJS game platform uses GitHub Actions to validate and promote immutable images, while ArgoCD reconciles AWS EKS from Git.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B1A86-6190-43DA-8CF7-DF74991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47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0FED5-F782-4D18-805A-4B875556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811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Next.js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9DD95-7B6E-4075-BF4C-A16D914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716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Share-link game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2532D-45DC-4AFE-BE55-D0FDDCA1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47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7EB2D-DED6-43DD-ACE2-2645BC6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1811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NestJS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A084F-72CF-4F98-BE8C-6EC24E51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716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Socket.IO game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A4BF0-AFCE-405B-9C23-44474DFA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27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8D3DC-185D-4923-8623-5FC7D47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B277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B2777"/>
                </a:solidFill>
                <a:latin typeface="Aptos"/>
                <a:ea typeface="Aptos"/>
                <a:cs typeface="Aptos"/>
              </a:rPr>
              <a:t>ArgoCD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95412-BAAC-46EE-854D-0A001B29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Pull-based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A52C8-F621-48C3-988F-B040F850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860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8DC7D-0D3F-4ABF-8410-DF7A929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19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AWS EKS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718E7-DD7F-484E-8261-07DC103E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098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54FBA-631C-4DCA-9A83-81C159F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8B40A-CB2B-4B8A-9C0A-515BBBAB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SHA tags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15C8F-E124-4825-B78F-24C0C9C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481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Immutable releases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81B42-599C-46F6-A8C7-D7ABA86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242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48603-3C65-4F8A-B5C5-8C838B49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576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Git revert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B08C7-7864-4DB4-A9EE-9E38605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481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Auditable 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ED540-64E4-4EA3-85A1-7769068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C7FF"/>
                </a:solidFill>
                <a:latin typeface="Aptos"/>
                <a:ea typeface="Aptos"/>
                <a:cs typeface="Aptos"/>
              </a:rPr>
              <a:t>Repository: github.com/AdelHussein01/CloudProj</a:t>
            </a:r>
          </a:p>
        </p:txBody>
      </p:sp>
    </p:spTree>
    <p:extLst>
      <p:ext uri="{BB962C8B-B14F-4D97-AF65-F5344CB8AC3E}">
        <p14:creationId xmlns:p14="http://schemas.microsoft.com/office/powerpoint/2010/main" val="337723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E37DB-D5F6-405F-A7A8-403E1123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FA49F-23D9-4752-B923-7168A52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51F59-9BA0-496F-80B7-07417D2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8F7E2-28AE-41BC-B08D-DB9B0AE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718D0-46D7-4FE8-832A-2C8D50A4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E770E-9813-42C8-BCAF-5EF5CBD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DELIVERY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AA8AE-BA61-4564-80C2-F67A10B7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Push-based CI/CD can deploy quickly while leaving reliability gaps.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E0CAB-DC58-43BE-99D9-D6681D8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project compares this with GitOps, where the cluster continuously converges to a declared Git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A94DB-5D3C-42E0-8099-1F3E953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E6FE0-A8F1-4E39-9B4C-3BECE3F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CI owns deploy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48C03-A3E0-48FA-890E-771ABC7F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16478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Pipeline needs live cluster write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397CB-6BEB-449F-A28F-9102B673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A2A06-E6B4-4976-B4F0-D7907F3C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95625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Mutable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89373-9AF6-462F-8204-5C3DAD5B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0425"/>
            <a:ext cx="16478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Live edits can drift away from source control.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D1563-1E97-4D7A-AB68-FC5AE1A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C2D62-FB7E-4A7F-98A5-2439A525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95625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Manual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8FF01-3050-4491-9F88-1AFD88A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0425"/>
            <a:ext cx="16478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Recovery depends on re-running jobs or commands.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7F22C-CCD5-4D2D-9DFE-B8091B1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67758-C52D-4E8B-AE99-0321126B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956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Weak 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43875-5FAB-4831-9C15-FE1D910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0425"/>
            <a:ext cx="20764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Harder to prove what desired state was active.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50315-284E-440F-A2C1-A35FB005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38538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4AC5B-7C57-44E9-88BA-84C9A6C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19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74FD0-92FB-4165-8229-70F93CFF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76155-D2A5-47F0-99D1-FA4523B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38538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3FD25-998E-4C46-8017-01C53B2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19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2971C-1D77-4BF6-B68A-B39241E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E19D3-0E19-42C9-B2D6-339D340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38538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348BA-46C7-4F49-861A-8946229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19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692F0-D87D-4051-A485-AE6F67C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4972A-7FAE-47A7-B41C-502FF97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GitOps answer: CI writes artifacts and Git changes. ArgoCD owns reconciliation inside the cluster.</a:t>
            </a:r>
          </a:p>
        </p:txBody>
      </p:sp>
    </p:spTree>
    <p:extLst>
      <p:ext uri="{BB962C8B-B14F-4D97-AF65-F5344CB8AC3E}">
        <p14:creationId xmlns:p14="http://schemas.microsoft.com/office/powerpoint/2010/main" val="8034960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15EEC-13E9-4BE4-B012-86AE348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0DC7F-FE8C-4C52-B7D7-404B369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F9115-D1F7-4D87-AD80-B64C464D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13BB0-BECD-4517-A52A-237EA37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C95DC-2B24-4680-9E78-EBEEF6E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D5ECE-B24F-4106-9648-1E99415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APPLICATION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BE917-631D-407B-AEAD-EECF3DE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The workload is a real two-player app, not only infrastructure scaffolding.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B3854-5673-400B-A331-5A6A9117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host creates a room, picks a game, sends a clean room link, and the first invited player joins.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782F5-2768-41E1-8F40-CD7B68A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0C4AA-6ADB-455A-BABC-D663EC34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57342-A64D-4785-ADD2-8BC1B6A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504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Name + game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061DA-E93D-4832-9370-DE76947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61EEE-9B11-4B56-8264-C169E06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Share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6032E-A54B-4C0C-81B5-CA96D31A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0425"/>
            <a:ext cx="1790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/room/{code}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F3ECC-85B4-48EB-B885-70A568A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F5F84-24A3-45AB-8F5C-D6879C94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First invitee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B8B09-1C72-4E26-A2B7-031761EC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0425"/>
            <a:ext cx="1790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Join with 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C3DAB-4209-4194-941D-3CA2D14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A6869-3323-4132-8830-2CA9146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2412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XO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36074-5164-4731-A5C5-1BF5905A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8925"/>
            <a:ext cx="20288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Turn-based board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B4646-1172-4222-8D92-1648B1EE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95468-4333-4F27-892C-922EC52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CDD6B-E727-4EDF-ABEB-14B14830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62425"/>
            <a:ext cx="20288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Hidden choice then reveal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BF94F-1256-4755-BBDA-A22753DD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0043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B59A9-0873-4FB8-8515-2D2A0E1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A3C4B-29E0-47B7-9C59-0993E4DB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956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63394-466E-49B0-A8C0-36D5EED7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043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DF6E5-0320-4BD4-A34E-90B0A33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813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A1722-1A2D-4C95-BCDB-91B0633C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956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0958A-CD52-40FE-9A96-20BE72C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42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FFDE6-B892-4C2D-91B7-A56897F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7CEA0E-1A53-48AF-8239-F019A390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98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if chosen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260C65-42B4-43BC-BBBA-3AED4290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7666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21588-A0BB-43C1-BEB1-8F34DB9E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C81C5-1261-44A8-801A-89A7D64D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if chosen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565834-490A-46D9-8BCD-33A1A47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NestJS validates moves and broadcasts room updates to both browsers through Socket.IO.</a:t>
            </a:r>
          </a:p>
        </p:txBody>
      </p:sp>
    </p:spTree>
    <p:extLst>
      <p:ext uri="{BB962C8B-B14F-4D97-AF65-F5344CB8AC3E}">
        <p14:creationId xmlns:p14="http://schemas.microsoft.com/office/powerpoint/2010/main" val="20608776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1F320-53F7-4989-A457-83F9911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E3725-4AE0-4ABC-9E8A-3BF869D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3426C-2D7A-48A1-A966-62CBC80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4FDC5-55CF-40BC-9CDA-7B8DDB9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60D7D-9D7D-46A4-8AAA-2A24711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16654-E4FC-411D-962C-C742E0D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72E5E-13D7-47CB-BC92-660728CA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Desired state flows from Git to AWS EKS through a pull-based controller.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AA839-7231-459C-90AA-8CA09EB4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CDF58-9B3F-4F0E-8973-59E9BA59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8CE5F-627C-435D-AA08-378FC04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504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 and merge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CBE07-F21E-4B54-9B6A-7200A0AC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A6D02-058C-485B-9BA8-F15A4D2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431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GitHub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ED146-351E-4629-8412-5486DD2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47925"/>
            <a:ext cx="1695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Source + Helm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85C8E-C3F0-43AE-A2CD-F46440E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75367-B966-4CFE-ABA4-22508DD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43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A26C9-AB52-47F6-B565-820C479C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47925"/>
            <a:ext cx="1885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CI, build, scan, promote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5D9DC-6BF7-48EF-8241-405B56E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8350E-60F1-4BE9-835A-2880629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716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GHCR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9B93B-969A-44C8-A66B-C1D80DB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76425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sha-tagged images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2C35C-AFCA-456D-8F37-EA044C7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0BBCE-C42F-4136-B384-5FA6FA5B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908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Helm chart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32B7F-1882-43D2-B17A-D567D701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95625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declared Kubernetes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2AF6D-AA0F-4A71-8969-3FAECB7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277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3651F-B7BC-4956-BE60-8E8DE3D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529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ArgoCD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79817-5555-4033-8947-C5932AB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57725"/>
            <a:ext cx="1885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sync, prune, self-heal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8570D-0FB9-4976-80DA-622AA67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0AAFC-98CC-4435-91AC-E33FFDA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5767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EKS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F65D1-1FC1-4BB5-ABD6-F989C2F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62475"/>
            <a:ext cx="20764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web pods, API pod, services, ALB ingress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FB428-7265-4A19-868F-1A527C79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1B21B-CDD8-4076-BA7F-EBB0D2E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291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32DF09-AB6E-46B1-91C5-06306CC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33925"/>
            <a:ext cx="1695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AWS Secrets Manager + ESO + IRSA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786FD-E634-4916-A441-272D748C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22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D2D60-A02A-4FC8-9F5B-DF59018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431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ACBA0-A4E2-4CB1-A912-DFC73D68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574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1B00B-9E7D-463D-AA3A-2E84917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622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76A35C-C4DA-4C4D-B4C8-9D60234C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431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004317-4658-40F9-BD70-6040E0E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574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13EAD1-6A6D-465C-92C3-3C5B212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40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338BC-5DB0-41BE-80E5-E9504A5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050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494572-7CC2-4790-B835-37E200D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192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3F739B-7B6A-4FE4-936E-7DB8D79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908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FDACDD-54B8-4E00-81A1-E2E92A7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7F484-B2CD-40E8-9DE9-6B90401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574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9272F3-7F08-41E1-AB56-260C4D3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52813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335966-E6FE-453F-9338-64297E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395F85-90D1-4180-89F9-D1290AA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EDCEA3-8F87-4183-A4C0-043FC901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296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0A9795-026F-49FD-A126-1F783C2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466422-1CD3-47BD-B25A-D0241DFD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4481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C2531A-7B54-45D3-A711-B46BED2C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0113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06A2B0-2E6A-40A4-A455-C028FF6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910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6A8816-7E9C-42A9-BF95-4ED0E421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196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sync secrets</a:t>
            </a:r>
          </a:p>
        </p:txBody>
      </p:sp>
    </p:spTree>
    <p:extLst>
      <p:ext uri="{BB962C8B-B14F-4D97-AF65-F5344CB8AC3E}">
        <p14:creationId xmlns:p14="http://schemas.microsoft.com/office/powerpoint/2010/main" val="1127715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54513-BDFB-49CE-9CB3-01BA587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EEA25-18B6-43E7-8E55-1C9E7738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F2FD8-DFD3-4D51-A887-0E4281A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74009-2A1F-455D-8BDC-F06CB404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0CBE9-6EFC-4BBC-A02C-07B3094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B7FCC-55BB-4006-89AC-BE6AC1F0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CI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7ABCF-222F-4FC6-A7FE-2BDB49C9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GitHub Actions promotes only code that builds, tests, and scans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C69ED-9D70-4DB9-9823-79FB219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8A609-6EAE-4910-858E-ABCF58B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C3936-CCEF-410B-99D4-EF15652E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type check +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FB2EB-D1E0-4B77-8531-932AF628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6231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08AD2-6F43-4014-B379-7DE3DF2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2A7A6-D96A-4478-9E1F-0F472E9D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231DF-BFBC-4750-A9BE-4606E200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85600-906B-44D5-9E81-755495E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Next.js and NestJS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05C2-27AC-463A-8042-31DE8D5C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6231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F2964-A15A-4DD5-A141-4D98241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9B0A0-9A42-4F4C-AC77-5C210BE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FF407-DBBE-4D00-B4C2-C23F0B60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484E3-23C1-481C-8D36-B1E8F04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web and API 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EB31B-7AFC-41A0-907A-5A6D311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6231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F6818-2E99-4BE6-97A3-12F4EC8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F26CC-A8D9-4A1C-B92A-E14E2D2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4F810-90CC-493A-B953-D498981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1FD50-236F-4B0A-8210-B588022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Trivy high/critical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21919-49C2-47F0-ABD4-4049FFD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6231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6835C-990A-4506-9244-F65BFDB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6BE36-F0E2-4233-8AB1-961578FE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71E09-D9A3-48CC-9782-B191C14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C6C94-51F0-4018-9C85-50B60864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GHCR sha-{commit}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77FC7-DE09-4EDA-BE8C-BFF420F9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231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1320F-E2A0-49B3-830D-F68C30AC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B9B5F-905D-4CAD-87EC-911B6E2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14625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B8AF7-D191-4685-B066-8D4FE39F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Promote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F0F4C4-3DD8-4EF8-A267-D46832A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1239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commit Helm values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10F177-C52D-49A7-9F5B-6CC949E9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release workflow ignores its own values.yaml promotion commit, preventing an accidental infinite release loop.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068D6D-8381-4590-B84B-3E3171A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Output artifact: ghcr.io/adelhussein01/cloudproj/{web,api}:sha-&lt;commit&gt;</a:t>
            </a:r>
          </a:p>
        </p:txBody>
      </p:sp>
    </p:spTree>
    <p:extLst>
      <p:ext uri="{BB962C8B-B14F-4D97-AF65-F5344CB8AC3E}">
        <p14:creationId xmlns:p14="http://schemas.microsoft.com/office/powerpoint/2010/main" val="460049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CC145-1898-407C-89A6-8EFD7F24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57A3B-DDEE-43EA-8F4D-AA252FE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07E6C-D48D-453C-A8CD-F440064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9C231-464E-4C9F-AFB7-3DC7D1F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9D986-10FC-438D-878C-BC2A7033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868A3-5CF3-487E-9F6D-1E21887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GITOPS RECONCILIATION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21921-7B84-4C46-A537-1D6D219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ArgoCD turns Git history into a continuously enforced runtime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EAF2C-CDC3-4C68-BF14-A48FB281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83C96-8F5E-4A82-A16A-22C921F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43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Git desired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06CA6-DA16-481C-93EE-52CC06B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47925"/>
            <a:ext cx="1885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Helm chart +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834F5-A9A4-4A41-81CC-6FDC7E1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2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B60CD-2EB7-4E45-AA72-B525B7C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ArgoCD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71361-9590-470A-A6EC-44A674DA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47925"/>
            <a:ext cx="1885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compare Git vs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B0451-8DEE-4CB1-B17E-60EE482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8165E-39BE-49D9-A7F3-5A5880E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AC740-6834-4528-ACCA-C9C1539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47925"/>
            <a:ext cx="1885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apply missing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6E221-23E0-4FF5-9660-152D157F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12268-DCA3-47CA-971A-C8E5A7E8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862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Health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BE72B-B897-4578-98AE-3D7CBA66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1885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sync, prune, self-heal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6111E-03D9-4B6B-814C-298A3CE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0313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2D786-17A9-499C-87BF-4D7AB3FB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EE099-A812-46E1-9DF4-F8F681C4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955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763F3-49A8-4CCA-93E8-C56DCAE5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00313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04746-3E12-4020-A9CB-E64A7824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E6958-C0C0-4B8C-8D5B-5516F3F1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955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FD2AD-18D2-49F7-AFC6-5AA3DC2D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14663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47721-EEFD-4AA7-A7B3-A8AED81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712030-A74C-4622-8DE7-AA700875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495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5EFD0-95E6-4813-A386-DE0DEE3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52963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38586-6825-44D3-83A8-7C099C6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33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AC5BB-8E9D-408E-B5FE-B884FDCE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36290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repair drift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8318A-AAA7-4E28-983C-48F6A97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72125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Manual changes are not the authority. If the live cluster drifts, ArgoCD brings it back to the Git-declared version.</a:t>
            </a:r>
          </a:p>
        </p:txBody>
      </p:sp>
    </p:spTree>
    <p:extLst>
      <p:ext uri="{BB962C8B-B14F-4D97-AF65-F5344CB8AC3E}">
        <p14:creationId xmlns:p14="http://schemas.microsoft.com/office/powerpoint/2010/main" val="5673704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58892-B122-446C-A660-357CF78A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79A84-B66F-4A33-9805-F3573B4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65078-E4B6-41E4-8BD5-51292C9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46BA7-A839-4CDE-AAB2-E2F11C7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34D21-8727-4DCD-BC02-18C8435D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EF273-F42F-42E2-A9D0-491EF08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KUBERNETES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CCEE-CB19-41FA-9594-91A0BCE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Helm keeps the runtime declarative without hiding operational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56F85-BF19-45CF-ABE8-1C36A453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56796-CA2C-4E90-A733-6CB91E5A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5DA54-255D-462C-BB4B-B0801CF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790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AWS ALB routes web and API 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CF068-67E9-48A4-971A-183119D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D0A8B-980A-4F08-9933-5DEC698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621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Web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14209-CC18-4F14-8381-96B90811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66925"/>
            <a:ext cx="1790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 replicas, HPA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1388D-2BE5-4201-A14A-601F562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A7432-0F8C-4476-A337-6642E1F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6712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API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42E96-F180-473C-B19A-3FC8325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71925"/>
            <a:ext cx="1790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 replica for in-memory rooms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DBABA-9683-4AD8-8482-247D573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18DDA-F80C-49B9-A185-03478039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CF42B-7EFC-41CF-8546-A339E42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66925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ClusterIP 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7A7CD-1A5E-4C7D-B75F-473B0137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7705B-2242-447B-B202-B696CF56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671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Probes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1A3D5-8356-47A5-BA45-8C8523B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71925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readiness + liveness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5EDA0-95B0-43B9-A97F-C3A577CE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E8521-FBB1-4AB0-9F52-F2684C72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146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Service accounts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A47E0-80EF-433F-98EF-6B5FF371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19425"/>
            <a:ext cx="15049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IRSA-ready identity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8F820-20CB-4F7E-B712-99831241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8913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5A376-BE7B-4B93-9BC5-8928D0A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8AB8C-4A92-4238-B19C-5F4E4B6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288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5CB06-EA1A-4426-8523-C4DEE2D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274320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5898F-47A1-45EC-B763-F77EF9FE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243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93EF0-556A-4C43-9B38-667EEB10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159EC-6E85-46F4-8577-B6A49F1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836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7C599-2908-413D-A011-049CA18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EEF682-C0D6-45BB-B65E-7A39D58A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336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31A10-D297-4531-898B-904BAE1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3ECA1F-9C66-4DBD-BE41-A8B3B162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152650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0B879E-E00C-4A07-9EF2-867787D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DFD3DF-F345-4786-9F99-28DB2C1F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3105150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49A46-986B-469D-8EC2-BDC072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96DF2B-6A9B-4367-89CF-A1F184E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Production note: scale the API horizontally only after adding shared room state, for example Redis plus a Socket.IO adapter.</a:t>
            </a:r>
          </a:p>
        </p:txBody>
      </p:sp>
    </p:spTree>
    <p:extLst>
      <p:ext uri="{BB962C8B-B14F-4D97-AF65-F5344CB8AC3E}">
        <p14:creationId xmlns:p14="http://schemas.microsoft.com/office/powerpoint/2010/main" val="1558302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CBD9C-9A0A-4778-B059-FA9D2AAD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A127-899E-493C-9B3D-FE34FB4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1480F-5ED8-4B80-BF03-27782F9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7A068-C212-4C76-8110-80959AE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2228A-34A6-4331-9A14-3B8DE270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43DAF-7E7A-4C05-937C-1DE5486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1E34E-4A86-4E54-A127-0CA21A4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The secure path keeps credentials out of Git and out of static pod configuration.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1DBF0-A424-4059-985D-24975ABF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46096-62BF-4ADD-A6E1-DFF2573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Secrets 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54B16-731B-44FE-B316-735BFEA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28925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xo-rps/prod/session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A8A95-0F49-4AD4-9FDF-E1FDD64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31D25-CDCD-4828-94C4-9261F9D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IRSA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1AC0E-1038-4AB2-8434-D481434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service account assumes IAM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D731E-90B8-4519-B22F-A32AC61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9CEAD-4741-4885-AB56-639AB7F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241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External 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C0472-BDAF-4D76-8315-CA0C1F2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1885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reads only allowed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8D9BF-BDF1-4BD5-9100-9A2DB60A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3DE77-89F0-4A59-A3EC-6C4FBCC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241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API pod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BA488-8A37-49D1-A451-27D769D3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28925"/>
            <a:ext cx="1123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envFrom Secret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4B6FE-48DA-462C-9360-6336CF4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846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F072F-35BD-421A-A639-8CBF5F1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78121-06EE-470D-9B0D-5D257F90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33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98904-460F-46FF-ABAC-F3EFDDED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846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D8159-1489-4DAD-9063-80745DA6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82538-CD9C-46A2-B262-ADB7B77E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33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73B4C-0E99-49D6-9F22-2E25859C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846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F05AB-5EFF-49AB-9B3B-D2952D0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19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25AE3-2C66-4908-A679-319A26BD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33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5EDBB-5093-48B7-ACDA-CCEC59B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Git stores an ExternalSecret declaration, not the secret value. AWS IAM limits what the operator can read.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8BFFB-84E8-4BDE-AAE1-34BC9CA2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Do not share root credentials or paste long-lived AWS keys into chat, workflows, or manifests.</a:t>
            </a:r>
          </a:p>
        </p:txBody>
      </p:sp>
    </p:spTree>
    <p:extLst>
      <p:ext uri="{BB962C8B-B14F-4D97-AF65-F5344CB8AC3E}">
        <p14:creationId xmlns:p14="http://schemas.microsoft.com/office/powerpoint/2010/main" val="7488741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07B1E-1424-420B-956D-C96580F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3A8A3-06CB-4CBB-A56A-4C74C6F6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1882-55C8-4CF1-B72B-BD8E33DE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3D127-AB1D-45A4-852D-F7F0197C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23245-90E4-4EF7-B5B1-27BF994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1417C-90DC-4866-A588-5E8E287A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BF5D6-7A08-49EA-93EB-5A8A034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Recovery is a Git change, so the audit trail stays intact.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2DFB0-384F-49D3-86CF-89DF2D0B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FB8C3-E7D7-4D1D-A4BE-FE77AF0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336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45012-5631-47E3-B3A3-D17896E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1885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failed smoke test or user-facing 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23E08-DDDA-4666-A4FA-1C7BC28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1EFAB-2795-409E-82D9-E5D968D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Path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F8A47-B579-4C87-862F-A6B53F9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66925"/>
            <a:ext cx="2028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git revert promotion 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30C8-BED5-4A4E-B373-859C07D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25935-537E-4D6E-A7E4-1B1D2D7B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Path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E15CA-B55A-4D90-BCC4-02E97B3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71925"/>
            <a:ext cx="2028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manual rollback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CAC76-40B2-4E06-8815-BDC6B79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3B0EF-0EF2-4EED-90CB-B4022184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Good tags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BD588-50DC-4352-B7B0-06CF660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19425"/>
            <a:ext cx="1885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previous sha-* image tags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2E3D1-3592-4F86-984D-5C3F17E5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31B2D-2632-4500-826E-BEB4D3A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1462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ArgoCD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2FE77-4C96-42A6-B5ED-33F4564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19425"/>
            <a:ext cx="933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8C478-36BA-498A-811B-6E5695F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1763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D0C86-0E42-4945-80CB-17D8BD4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5A043-5C7F-4C04-B24A-FA173005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812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76F44-B273-4EAA-B27A-7650FEF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2686050"/>
            <a:ext cx="28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F434-6C30-4CF6-88C6-76CF4F7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9EC3D-7CBF-4118-8AC7-EBA10145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337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FDD03-65A3-4FAE-9B10-739CA16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0263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C6506-6D48-4AE4-BA8E-978DD7E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B7E8B-FDBA-4164-9541-0BA704B9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05263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CB602D-16BA-4DC5-B344-0DA7FF5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862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E4AD9-A968-4DDE-B89A-9D8ABD50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2763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3F8D82-FE89-42DC-AB50-325DD825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33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075A88-9F00-49C6-A7A0-0B8175C4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Avoid cluster-only rollback. It may fix the moment, but it creates drift that GitOps is designed to eliminate.</a:t>
            </a:r>
          </a:p>
        </p:txBody>
      </p:sp>
    </p:spTree>
    <p:extLst>
      <p:ext uri="{BB962C8B-B14F-4D97-AF65-F5344CB8AC3E}">
        <p14:creationId xmlns:p14="http://schemas.microsoft.com/office/powerpoint/2010/main" val="18842462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F4E30-57F2-4416-AAFA-B81E445F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651A9-0FB2-4113-B599-94FA37F4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12A49-FAB4-4EAE-843E-246697A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BAE6-6FEF-4A96-BA0D-61B6FD2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08310-396B-4D71-9346-B03D6AF7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E8970-69F3-425C-9ED4-E936091C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6BF10-7F6E-4DB6-A161-2555E59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Reliability needs operational metrics, not only a successful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8CB71-9037-4AF4-9045-1F5D5D4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516E9-B44D-409A-B66C-B96B4BB2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Deployment 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71AC6-6AE1-4660-993D-12FB4C89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successful release workflow runs per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CF9B6-B1E8-4549-A8F4-84E50F0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CE47B-8763-45BF-9B31-2FE1051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05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Lead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CA82B-9420-46B5-8C93-59DD172F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895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merge to ArgoCD healthy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41D13-8B7D-43FD-9C6D-2A95AF8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EBA09-DCEF-4B26-9678-BFFE01C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Change failure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8210D-BF12-4073-BBC0-E41387FA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failed releases divided by total releases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9D512-7FB8-4359-B0EF-07A1702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084E8-599E-433A-BDA4-7CB293CF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MTTR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67C4B-DBC8-4702-972F-008416A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bad release detection to healthy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FBE7C-A869-4F8B-96F0-ED4563D7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00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27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9A474-0086-47C3-A64C-481331B6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3385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B27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B2777"/>
                </a:solidFill>
                <a:latin typeface="Aptos"/>
                <a:ea typeface="Aptos"/>
                <a:cs typeface="Aptos"/>
              </a:rPr>
              <a:t>Drift repair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CEE7F-5FE1-45FD-99AE-812F78F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5770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manual cluster edit to ArgoCD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4D39E-2815-40BF-B6FB-4252D34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33230-FA05-4609-8295-C6C86D3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3385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Sync health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1B70D-5F6E-4892-BACA-DC644991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695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ArgoCD synced and healthy state</a:t>
            </a:r>
          </a:p>
        </p:txBody>
      </p:sp>
    </p:spTree>
    <p:extLst>
      <p:ext uri="{BB962C8B-B14F-4D97-AF65-F5344CB8AC3E}">
        <p14:creationId xmlns:p14="http://schemas.microsoft.com/office/powerpoint/2010/main" val="10726593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175FD-8435-4B3D-9811-BBE30EF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04896-90C3-46F3-87D9-D24E8BB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1C39-2DF5-4A73-9037-9776942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91CE6-D114-4231-B400-4C82D83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68E6E-A49E-4294-A0A0-FDBC41DB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1B08A-4AAA-4CA4-84AD-C102454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AWS FINAL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2CD86-2C8C-4DE4-A406-E789A00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Cloud deployment is last so access, cost, and cleanup stay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5F911-3F3B-411D-94A9-9C1A365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C3207-DE08-4257-8D1A-94B9D5ED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2659-4487-4DD0-88C5-A749EA04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Confirm AWS account, region, domain, and budget.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C1F52-1B6E-4D5F-8D5F-238E76D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714F4-0330-4E32-AD0F-307FBB0C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DC311-8FFB-4AF0-BA60-19135AE7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Run Terraform for VPC and EKS.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EA88B-6AA8-45AB-8AF9-C08A4A8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BE941-4F21-4194-9B76-B2881439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AC578-9B09-4BB4-B993-5DBCE786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Install AWS Load Balancer Controller.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33D07-05A9-4595-971E-3C18787B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E0CAC-8ADB-4C6E-BA24-F09EFD0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F51C2-B038-4F4E-98AC-E4DBD35A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Install External Secrets Operator and create Secrets Manager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AE737-E9DA-435E-8346-1CA96EDE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E5E1B-4D55-4C12-A15E-2A31C1BB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1A31C-42D0-48CF-B4D3-51D5F0E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Install ArgoCD and apply the project/application manifests.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003EF-A850-4BDF-B2FB-14A95AA0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F3927-9531-423E-B86E-917A05FD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51483-05B5-4148-84DA-E05FD910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Verify app flow, collect screenshots, then clean up paid resources if needed.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B0D67-FBE4-44CB-A1B2-630048F8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Safe access rule: never share root credentials or long-lived keys. Prefer guided execution or a temporary least-privilege role.</a:t>
            </a:r>
          </a:p>
        </p:txBody>
      </p:sp>
    </p:spTree>
    <p:extLst>
      <p:ext uri="{BB962C8B-B14F-4D97-AF65-F5344CB8AC3E}">
        <p14:creationId xmlns:p14="http://schemas.microsoft.com/office/powerpoint/2010/main" val="17168149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0D01D-D5A4-4E8A-84D4-24AC5B8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F5764-2A43-4ED3-92F2-4D8829E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7FF"/>
                </a:solidFill>
                <a:latin typeface="Aptos"/>
                <a:ea typeface="Aptos"/>
                <a:cs typeface="Aptos"/>
              </a:rPr>
              <a:t>AdelHussein01/CloudProj  |  GitOps CI/CD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C6C12-83FE-420E-9BD4-2977153A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95CB-75AE-41C8-BBF1-E967A57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DEMO RUNBOOK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25D51-CB80-4628-B490-9F57C32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final presentation proves both the app and the GitOps delivery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78383-0CD0-4690-8703-3F70E72B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D485C-82DD-406B-B52E-CEDAA1C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1.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5E7D0-E193-4D73-81A2-349A44BE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 link, join, play XO and RPS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05AA5-8530-46FD-B6BD-E1A9DAA3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C80C-801E-42A7-BB86-97DB4EC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2.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AC36-774F-4137-B07B-CCCF99B0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 checks and release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3C56D-8D95-4E12-9AA7-47ECE854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9127B-4E9C-4FD4-A0BA-7BE1B29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193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3. 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6EB62-7916-4AF4-915B-011E82A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24175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ArgoCD sync and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920E-6AA5-47E6-AE15-1C1229C7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24E4D-4C0D-410D-A768-DFC84C1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4.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99896-4502-41E6-BD95-CE00FCB9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24175"/>
            <a:ext cx="1790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Self-heal drift and roll 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02EB8-79BF-4721-8A05-23B2108B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860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B3B8E-A597-473B-97FE-FA64185D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5557F-C0D2-4323-90D7-AFA1546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860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3DBF9-87B8-43DA-A477-3B08CD46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3186F-81C7-4ABF-AFA7-B6DEE81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8608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21A3D-FEB9-4E05-ADF3-B99D177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4C92F-E3F2-489C-8147-CA7D388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904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7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7FF"/>
                </a:solidFill>
                <a:latin typeface="Aptos"/>
                <a:ea typeface="Aptos"/>
                <a:cs typeface="Aptos"/>
              </a:rPr>
              <a:t>Delivered artifacts: source project, Helm/ArgoCD manifests, AWS deployment guide, PDF report, and editable slides.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DD5F4-DE83-4F34-910D-0FF3B7C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C7FF"/>
                </a:solidFill>
                <a:latin typeface="Aptos"/>
                <a:ea typeface="Aptos"/>
                <a:cs typeface="Aptos"/>
              </a:rPr>
              <a:t>AWS remains the final step after account access and cost confirmation.</a:t>
            </a:r>
          </a:p>
        </p:txBody>
      </p:sp>
    </p:spTree>
    <p:extLst>
      <p:ext uri="{BB962C8B-B14F-4D97-AF65-F5344CB8AC3E}">
        <p14:creationId xmlns:p14="http://schemas.microsoft.com/office/powerpoint/2010/main" val="615601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2026-05-29T23:17:26.9850000Z</dcterms:created>
  <dcterms:modified xsi:type="dcterms:W3CDTF">2026-05-29T23:17:26.9850000Z</dcterms:modified>
</coreProperties>
</file>